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anva Sans Bold" charset="1" panose="020B0803030501040103"/>
      <p:regular r:id="rId27"/>
    </p:embeddedFont>
    <p:embeddedFont>
      <p:font typeface="Unna Bold" charset="1" panose="02040703070705020203"/>
      <p:regular r:id="rId28"/>
    </p:embeddedFont>
    <p:embeddedFont>
      <p:font typeface="Open Sans" charset="1" panose="020B0606030504020204"/>
      <p:regular r:id="rId29"/>
    </p:embeddedFont>
    <p:embeddedFont>
      <p:font typeface="Canva Sans" charset="1" panose="020B0503030501040103"/>
      <p:regular r:id="rId30"/>
    </p:embeddedFont>
    <p:embeddedFont>
      <p:font typeface="Open Sans Bold" charset="1" panose="020B0806030504020204"/>
      <p:regular r:id="rId31"/>
    </p:embeddedFont>
    <p:embeddedFont>
      <p:font typeface="Arimo" charset="1" panose="020B06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088245" y="3196166"/>
            <a:ext cx="4017047" cy="3303216"/>
          </a:xfrm>
          <a:custGeom>
            <a:avLst/>
            <a:gdLst/>
            <a:ahLst/>
            <a:cxnLst/>
            <a:rect r="r" b="b" t="t" l="l"/>
            <a:pathLst>
              <a:path h="3303216" w="4017047">
                <a:moveTo>
                  <a:pt x="0" y="0"/>
                </a:moveTo>
                <a:lnTo>
                  <a:pt x="4017047" y="0"/>
                </a:lnTo>
                <a:lnTo>
                  <a:pt x="4017047" y="3303216"/>
                </a:lnTo>
                <a:lnTo>
                  <a:pt x="0" y="3303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2000"/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19" id="19"/>
          <p:cNvSpPr txBox="true"/>
          <p:nvPr/>
        </p:nvSpPr>
        <p:spPr>
          <a:xfrm rot="0">
            <a:off x="623374" y="303888"/>
            <a:ext cx="17061622" cy="365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 Defense Against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Adversarial Attacks in Image Classification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496530" y="6575582"/>
            <a:ext cx="5244687" cy="365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by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Umesh Kumar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23MT0430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169947" y="6534150"/>
            <a:ext cx="7089353" cy="365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 Supervision</a:t>
            </a:r>
          </a:p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Of</a:t>
            </a:r>
          </a:p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Prof. Rajendra Pamula</a:t>
            </a:r>
          </a:p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7688" y="416248"/>
            <a:ext cx="13620522" cy="284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</a:rPr>
              <a:t> ADVERSARIAL ATTACKS</a:t>
            </a:r>
          </a:p>
          <a:p>
            <a:pPr algn="ctr">
              <a:lnSpc>
                <a:spcPts val="1146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080091" y="2270140"/>
            <a:ext cx="8749827" cy="3740551"/>
          </a:xfrm>
          <a:custGeom>
            <a:avLst/>
            <a:gdLst/>
            <a:ahLst/>
            <a:cxnLst/>
            <a:rect r="r" b="b" t="t" l="l"/>
            <a:pathLst>
              <a:path h="3740551" w="8749827">
                <a:moveTo>
                  <a:pt x="0" y="0"/>
                </a:moveTo>
                <a:lnTo>
                  <a:pt x="8749826" y="0"/>
                </a:lnTo>
                <a:lnTo>
                  <a:pt x="8749826" y="3740551"/>
                </a:lnTo>
                <a:lnTo>
                  <a:pt x="0" y="37405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139238" y="4962842"/>
            <a:ext cx="952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471728" y="6553200"/>
            <a:ext cx="13966552" cy="3670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09" indent="-410205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Small, intenti</a:t>
            </a:r>
            <a:r>
              <a:rPr lang="en-US" sz="37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onal perturbations to input images designed </a:t>
            </a:r>
          </a:p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       to mislead machine learning models.</a:t>
            </a:r>
          </a:p>
          <a:p>
            <a:pPr algn="just" marL="820409" indent="-410205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These perturbations are often imperceptible to the </a:t>
            </a:r>
          </a:p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       human eye but can significantly impact model predictions.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185390" y="6450037"/>
            <a:ext cx="4095976" cy="3471173"/>
          </a:xfrm>
          <a:custGeom>
            <a:avLst/>
            <a:gdLst/>
            <a:ahLst/>
            <a:cxnLst/>
            <a:rect r="r" b="b" t="t" l="l"/>
            <a:pathLst>
              <a:path h="3471173" w="4095976">
                <a:moveTo>
                  <a:pt x="0" y="0"/>
                </a:moveTo>
                <a:lnTo>
                  <a:pt x="4095976" y="0"/>
                </a:lnTo>
                <a:lnTo>
                  <a:pt x="4095976" y="3471173"/>
                </a:lnTo>
                <a:lnTo>
                  <a:pt x="0" y="3471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061" t="-13863" r="-3212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699246" y="5841047"/>
            <a:ext cx="3650182" cy="3720154"/>
          </a:xfrm>
          <a:custGeom>
            <a:avLst/>
            <a:gdLst/>
            <a:ahLst/>
            <a:cxnLst/>
            <a:rect r="r" b="b" t="t" l="l"/>
            <a:pathLst>
              <a:path h="3720154" w="3650182">
                <a:moveTo>
                  <a:pt x="0" y="0"/>
                </a:moveTo>
                <a:lnTo>
                  <a:pt x="3650182" y="0"/>
                </a:lnTo>
                <a:lnTo>
                  <a:pt x="3650182" y="3720154"/>
                </a:lnTo>
                <a:lnTo>
                  <a:pt x="0" y="37201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361246" y="356415"/>
            <a:ext cx="11575033" cy="1600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85"/>
              </a:lnSpc>
            </a:pPr>
            <a:r>
              <a:rPr lang="en-US" sz="93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On Real Life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49580" y="3301183"/>
            <a:ext cx="14694377" cy="247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5437" indent="-382718" lvl="1">
              <a:lnSpc>
                <a:spcPts val="4963"/>
              </a:lnSpc>
              <a:buFont typeface="Arial"/>
              <a:buChar char="•"/>
            </a:pPr>
            <a:r>
              <a:rPr lang="en-US" sz="35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Autonomous ve</a:t>
            </a:r>
            <a:r>
              <a:rPr lang="en-US" sz="35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hicle operation an incorrect i</a:t>
            </a:r>
            <a:r>
              <a:rPr lang="en-US" sz="35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dentification of </a:t>
            </a:r>
          </a:p>
          <a:p>
            <a:pPr algn="l">
              <a:lnSpc>
                <a:spcPts val="4963"/>
              </a:lnSpc>
            </a:pPr>
            <a:r>
              <a:rPr lang="en-US" sz="35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traffic signs can produce severe accidents.</a:t>
            </a:r>
          </a:p>
          <a:p>
            <a:pPr algn="l" marL="765437" indent="-382718" lvl="1">
              <a:lnSpc>
                <a:spcPts val="4963"/>
              </a:lnSpc>
              <a:buFont typeface="Arial"/>
              <a:buChar char="•"/>
            </a:pPr>
            <a:r>
              <a:rPr lang="en-US" sz="35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Incorrect image classifications within medical scenarios could </a:t>
            </a:r>
          </a:p>
          <a:p>
            <a:pPr algn="l">
              <a:lnSpc>
                <a:spcPts val="4963"/>
              </a:lnSpc>
            </a:pPr>
            <a:r>
              <a:rPr lang="en-US" sz="35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cause the misdiagnosis along with improper treatment methods.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49363" y="9530488"/>
            <a:ext cx="2549949" cy="53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1"/>
              </a:lnSpc>
            </a:pPr>
            <a:r>
              <a:rPr lang="en-US" sz="31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 2022 - 25 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2777" y="466267"/>
            <a:ext cx="13943908" cy="284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6E4823"/>
                </a:solidFill>
                <a:latin typeface="Unna Bold"/>
                <a:ea typeface="Unna Bold"/>
                <a:cs typeface="Unna Bold"/>
                <a:sym typeface="Unna Bold"/>
              </a:rPr>
              <a:t>PROBLEM STATEMENT</a:t>
            </a:r>
          </a:p>
          <a:p>
            <a:pPr algn="ctr">
              <a:lnSpc>
                <a:spcPts val="1146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0137" y="10063142"/>
            <a:ext cx="18332860" cy="445690"/>
            <a:chOff x="0" y="0"/>
            <a:chExt cx="4828408" cy="117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52777" y="3448871"/>
            <a:ext cx="15329490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E4823"/>
                </a:solidFill>
                <a:latin typeface="Canva Sans"/>
                <a:ea typeface="Canva Sans"/>
                <a:cs typeface="Canva Sans"/>
                <a:sym typeface="Canva Sans"/>
              </a:rPr>
              <a:t>This project</a:t>
            </a:r>
            <a:r>
              <a:rPr lang="en-US" sz="3399">
                <a:solidFill>
                  <a:srgbClr val="6E4823"/>
                </a:solidFill>
                <a:latin typeface="Canva Sans"/>
                <a:ea typeface="Canva Sans"/>
                <a:cs typeface="Canva Sans"/>
                <a:sym typeface="Canva Sans"/>
              </a:rPr>
              <a:t> aims to explore the effectiveness of adversarial attacks, specifically the Fast Gradient Sign Method (FGSM), on a deep learning based image classification model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E4823"/>
                </a:solidFill>
                <a:latin typeface="Canva Sans"/>
                <a:ea typeface="Canva Sans"/>
                <a:cs typeface="Canva Sans"/>
                <a:sym typeface="Canva Sans"/>
              </a:rPr>
              <a:t>Implimenting and Testing Defense mechanisms to enhance model robustnes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E4823"/>
                </a:solidFill>
                <a:latin typeface="Canva Sans"/>
                <a:ea typeface="Canva Sans"/>
                <a:cs typeface="Canva Sans"/>
                <a:sym typeface="Canva Sans"/>
              </a:rPr>
              <a:t>The problem addressed is two fold: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E4823"/>
                </a:solidFill>
                <a:latin typeface="Canva Sans"/>
                <a:ea typeface="Canva Sans"/>
                <a:cs typeface="Canva Sans"/>
                <a:sym typeface="Canva Sans"/>
              </a:rPr>
              <a:t>   1) Evaluating Vulnerability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E4823"/>
                </a:solidFill>
                <a:latin typeface="Canva Sans"/>
                <a:ea typeface="Canva Sans"/>
                <a:cs typeface="Canva Sans"/>
                <a:sym typeface="Canva Sans"/>
              </a:rPr>
              <a:t>   2) Implimenting and Testing Defenses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538496" y="461327"/>
            <a:ext cx="8564726" cy="151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42"/>
              </a:lnSpc>
            </a:pPr>
            <a:r>
              <a:rPr lang="en-US" sz="8815" b="true">
                <a:solidFill>
                  <a:srgbClr val="6E48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</a:t>
            </a:r>
            <a:r>
              <a:rPr lang="en-US" b="true" sz="8815">
                <a:solidFill>
                  <a:srgbClr val="6E48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sed Work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27862" y="3109544"/>
            <a:ext cx="11331298" cy="517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Evaluating Vulnerability :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FGSM Attack</a:t>
            </a:r>
          </a:p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Implimenting and Testing Defenses :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Adve</a:t>
            </a:r>
            <a:r>
              <a:rPr lang="en-US" sz="41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rsarial Training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Defense Layer (DefendedModel)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Noise Injection Techniques</a:t>
            </a:r>
          </a:p>
          <a:p>
            <a:pPr algn="l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6E4823"/>
                </a:solidFill>
                <a:latin typeface="Open Sans"/>
                <a:ea typeface="Open Sans"/>
                <a:cs typeface="Open Sans"/>
                <a:sym typeface="Open Sans"/>
              </a:rPr>
              <a:t>Multiple Epsilons Training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345978" y="2810267"/>
            <a:ext cx="11301259" cy="2542783"/>
          </a:xfrm>
          <a:custGeom>
            <a:avLst/>
            <a:gdLst/>
            <a:ahLst/>
            <a:cxnLst/>
            <a:rect r="r" b="b" t="t" l="l"/>
            <a:pathLst>
              <a:path h="2542783" w="11301259">
                <a:moveTo>
                  <a:pt x="0" y="0"/>
                </a:moveTo>
                <a:lnTo>
                  <a:pt x="11301259" y="0"/>
                </a:lnTo>
                <a:lnTo>
                  <a:pt x="11301259" y="2542783"/>
                </a:lnTo>
                <a:lnTo>
                  <a:pt x="0" y="2542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3345978" y="442140"/>
            <a:ext cx="10721699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Adversarial Attack -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FGSM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28088" y="5852692"/>
            <a:ext cx="15611647" cy="275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6899" indent="-368450" lvl="1">
              <a:lnSpc>
                <a:spcPts val="4778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Generates adversarial examples by adding n</a:t>
            </a:r>
            <a:r>
              <a:rPr lang="en-US" sz="34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oise in the direction of the gradient.</a:t>
            </a:r>
          </a:p>
          <a:p>
            <a:pPr algn="l" marL="736899" indent="-368450" lvl="1">
              <a:lnSpc>
                <a:spcPts val="4778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Formula: perturbed_image = original_image + epsilon *sign(data_grad)</a:t>
            </a:r>
          </a:p>
          <a:p>
            <a:pPr algn="l" marL="736899" indent="-368450" lvl="1">
              <a:lnSpc>
                <a:spcPts val="4778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Epsilon controls the attack strength (i.e., perturbation level).</a:t>
            </a:r>
          </a:p>
          <a:p>
            <a:pPr algn="ctr">
              <a:lnSpc>
                <a:spcPts val="26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332724" y="1355230"/>
            <a:ext cx="13598978" cy="4810639"/>
          </a:xfrm>
          <a:custGeom>
            <a:avLst/>
            <a:gdLst/>
            <a:ahLst/>
            <a:cxnLst/>
            <a:rect r="r" b="b" t="t" l="l"/>
            <a:pathLst>
              <a:path h="4810639" w="13598978">
                <a:moveTo>
                  <a:pt x="0" y="0"/>
                </a:moveTo>
                <a:lnTo>
                  <a:pt x="13598979" y="0"/>
                </a:lnTo>
                <a:lnTo>
                  <a:pt x="13598979" y="4810638"/>
                </a:lnTo>
                <a:lnTo>
                  <a:pt x="0" y="4810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96530" y="6581775"/>
            <a:ext cx="14155706" cy="195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</a:pPr>
            <a:r>
              <a:rPr lang="en-US" sz="28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of FGSM attack. </a:t>
            </a:r>
          </a:p>
          <a:p>
            <a:pPr algn="just">
              <a:lnSpc>
                <a:spcPts val="3954"/>
              </a:lnSpc>
            </a:pPr>
          </a:p>
          <a:p>
            <a:pPr algn="just">
              <a:lnSpc>
                <a:spcPts val="3954"/>
              </a:lnSpc>
            </a:pPr>
            <a:r>
              <a:rPr lang="en-US" b="true" sz="282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Adding a small perturbation with ϵ = 0.007 in panda image encoding successfully causes misclassification, while remaining imperceptible to the human eye.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233196" y="2702434"/>
            <a:ext cx="12116393" cy="7360709"/>
          </a:xfrm>
          <a:custGeom>
            <a:avLst/>
            <a:gdLst/>
            <a:ahLst/>
            <a:cxnLst/>
            <a:rect r="r" b="b" t="t" l="l"/>
            <a:pathLst>
              <a:path h="7360709" w="12116393">
                <a:moveTo>
                  <a:pt x="0" y="0"/>
                </a:moveTo>
                <a:lnTo>
                  <a:pt x="12116393" y="0"/>
                </a:lnTo>
                <a:lnTo>
                  <a:pt x="12116393" y="7360708"/>
                </a:lnTo>
                <a:lnTo>
                  <a:pt x="0" y="7360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139238" y="4962842"/>
            <a:ext cx="95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959502" y="510414"/>
            <a:ext cx="14318233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Adversarial Defense Using Adversarial Train-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95655"/>
            <a:ext cx="7607798" cy="3547136"/>
          </a:xfrm>
          <a:custGeom>
            <a:avLst/>
            <a:gdLst/>
            <a:ahLst/>
            <a:cxnLst/>
            <a:rect r="r" b="b" t="t" l="l"/>
            <a:pathLst>
              <a:path h="3547136" w="7607798">
                <a:moveTo>
                  <a:pt x="0" y="0"/>
                </a:moveTo>
                <a:lnTo>
                  <a:pt x="7607798" y="0"/>
                </a:lnTo>
                <a:lnTo>
                  <a:pt x="7607798" y="3547135"/>
                </a:lnTo>
                <a:lnTo>
                  <a:pt x="0" y="3547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57130" y="3321094"/>
            <a:ext cx="6913286" cy="3896258"/>
          </a:xfrm>
          <a:custGeom>
            <a:avLst/>
            <a:gdLst/>
            <a:ahLst/>
            <a:cxnLst/>
            <a:rect r="r" b="b" t="t" l="l"/>
            <a:pathLst>
              <a:path h="3896258" w="6913286">
                <a:moveTo>
                  <a:pt x="0" y="0"/>
                </a:moveTo>
                <a:lnTo>
                  <a:pt x="6913286" y="0"/>
                </a:lnTo>
                <a:lnTo>
                  <a:pt x="6913286" y="3896258"/>
                </a:lnTo>
                <a:lnTo>
                  <a:pt x="0" y="3896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79" r="0" b="-67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34016" y="871898"/>
            <a:ext cx="9819969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After Adversarial Training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13719" y="7602744"/>
            <a:ext cx="545276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Accuraccy of ResNet-34  before Attack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24920" y="7639256"/>
            <a:ext cx="513218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uraccy of ResNet-34 After Attack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50612" y="-221832"/>
            <a:ext cx="18332860" cy="445690"/>
            <a:chOff x="0" y="0"/>
            <a:chExt cx="4828408" cy="1173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5607" y="1929219"/>
            <a:ext cx="5520804" cy="5237863"/>
          </a:xfrm>
          <a:custGeom>
            <a:avLst/>
            <a:gdLst/>
            <a:ahLst/>
            <a:cxnLst/>
            <a:rect r="r" b="b" t="t" l="l"/>
            <a:pathLst>
              <a:path h="5237863" w="5520804">
                <a:moveTo>
                  <a:pt x="0" y="0"/>
                </a:moveTo>
                <a:lnTo>
                  <a:pt x="5520804" y="0"/>
                </a:lnTo>
                <a:lnTo>
                  <a:pt x="5520804" y="5237862"/>
                </a:lnTo>
                <a:lnTo>
                  <a:pt x="0" y="5237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6741" y="1929219"/>
            <a:ext cx="10969346" cy="5237863"/>
          </a:xfrm>
          <a:custGeom>
            <a:avLst/>
            <a:gdLst/>
            <a:ahLst/>
            <a:cxnLst/>
            <a:rect r="r" b="b" t="t" l="l"/>
            <a:pathLst>
              <a:path h="5237863" w="10969346">
                <a:moveTo>
                  <a:pt x="0" y="0"/>
                </a:moveTo>
                <a:lnTo>
                  <a:pt x="10969346" y="0"/>
                </a:lnTo>
                <a:lnTo>
                  <a:pt x="10969346" y="5237862"/>
                </a:lnTo>
                <a:lnTo>
                  <a:pt x="0" y="5237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827908" y="7720240"/>
            <a:ext cx="6597402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Accuracy After Adversarial Training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5216" y="7827556"/>
            <a:ext cx="3432497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Accuracy vs Epsilon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50612" y="-22183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2905" y="1006314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4898" y="1128269"/>
            <a:ext cx="1097153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With Adversarial Training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82861" y="3733735"/>
            <a:ext cx="8555608" cy="471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2045" indent="-481023" lvl="1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More than one training. </a:t>
            </a:r>
          </a:p>
          <a:p>
            <a:pPr algn="l" marL="962045" indent="-481023" lvl="1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Wastage of resources(GPUs).</a:t>
            </a:r>
          </a:p>
          <a:p>
            <a:pPr algn="l" marL="962045" indent="-481023" lvl="1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Time taking</a:t>
            </a:r>
          </a:p>
          <a:p>
            <a:pPr algn="l" marL="962045" indent="-481023" lvl="1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Hard to tune(epsilon value). </a:t>
            </a:r>
          </a:p>
          <a:p>
            <a:pPr algn="ctr">
              <a:lnSpc>
                <a:spcPts val="6238"/>
              </a:lnSpc>
              <a:spcBef>
                <a:spcPct val="0"/>
              </a:spcBef>
            </a:pPr>
          </a:p>
          <a:p>
            <a:pPr algn="ctr">
              <a:lnSpc>
                <a:spcPts val="623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33821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44860" y="-221832"/>
            <a:ext cx="18332860" cy="445690"/>
            <a:chOff x="0" y="0"/>
            <a:chExt cx="4828408" cy="1173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403091" y="760749"/>
            <a:ext cx="1348181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Adversarial Defense Using Noise Injection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4318" y="4362264"/>
            <a:ext cx="13771680" cy="570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8"/>
              </a:lnSpc>
            </a:pPr>
            <a:r>
              <a:rPr lang="en-US" sz="37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Noise Injecti</a:t>
            </a:r>
            <a:r>
              <a:rPr lang="en-US" sz="37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 Techniques</a:t>
            </a:r>
          </a:p>
          <a:p>
            <a:pPr algn="l" marL="815633" indent="-407817" lvl="1">
              <a:lnSpc>
                <a:spcPts val="5288"/>
              </a:lnSpc>
              <a:buFont typeface="Arial"/>
              <a:buChar char="•"/>
            </a:pPr>
            <a:r>
              <a:rPr lang="en-US" sz="37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Random Gaussian Noise (RGN): helps models to generalize better even under minor distortions</a:t>
            </a:r>
          </a:p>
          <a:p>
            <a:pPr algn="l" marL="815633" indent="-407817" lvl="1">
              <a:lnSpc>
                <a:spcPts val="5288"/>
              </a:lnSpc>
              <a:buFont typeface="Arial"/>
              <a:buChar char="•"/>
            </a:pPr>
            <a:r>
              <a:rPr lang="en-US" sz="37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Stochastic Motion Blur (SMB): make models less sensitive to sharp changes or small perturbations.</a:t>
            </a:r>
          </a:p>
          <a:p>
            <a:pPr algn="l" marL="815633" indent="-407817" lvl="1">
              <a:lnSpc>
                <a:spcPts val="5288"/>
              </a:lnSpc>
              <a:buFont typeface="Arial"/>
              <a:buChar char="•"/>
            </a:pPr>
            <a:r>
              <a:rPr lang="en-US" sz="37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Stochastic Glass Blur (SGB): remove adversarial patterns that depend on fine pixel arrangements.</a:t>
            </a:r>
          </a:p>
          <a:p>
            <a:pPr algn="l">
              <a:lnSpc>
                <a:spcPts val="5288"/>
              </a:lnSpc>
            </a:pPr>
          </a:p>
          <a:p>
            <a:pPr algn="ctr">
              <a:lnSpc>
                <a:spcPts val="2791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06048" y="2441131"/>
            <a:ext cx="9489281" cy="120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aim t</a:t>
            </a: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harden the model during training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One time training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5325" y="1396891"/>
            <a:ext cx="6743304" cy="6925088"/>
          </a:xfrm>
          <a:custGeom>
            <a:avLst/>
            <a:gdLst/>
            <a:ahLst/>
            <a:cxnLst/>
            <a:rect r="r" b="b" t="t" l="l"/>
            <a:pathLst>
              <a:path h="6925088" w="6743304">
                <a:moveTo>
                  <a:pt x="0" y="0"/>
                </a:moveTo>
                <a:lnTo>
                  <a:pt x="6743305" y="0"/>
                </a:lnTo>
                <a:lnTo>
                  <a:pt x="6743305" y="6925088"/>
                </a:lnTo>
                <a:lnTo>
                  <a:pt x="0" y="6925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25325" y="8986837"/>
            <a:ext cx="701732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ages After FGSM And Noise Injection.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4036894"/>
            <a:ext cx="8608656" cy="2783072"/>
          </a:xfrm>
          <a:custGeom>
            <a:avLst/>
            <a:gdLst/>
            <a:ahLst/>
            <a:cxnLst/>
            <a:rect r="r" b="b" t="t" l="l"/>
            <a:pathLst>
              <a:path h="2783072" w="8608656">
                <a:moveTo>
                  <a:pt x="0" y="0"/>
                </a:moveTo>
                <a:lnTo>
                  <a:pt x="8608656" y="0"/>
                </a:lnTo>
                <a:lnTo>
                  <a:pt x="8608656" y="2783072"/>
                </a:lnTo>
                <a:lnTo>
                  <a:pt x="0" y="2783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03465" y="8930957"/>
            <a:ext cx="8608656" cy="10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</a:t>
            </a: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uracy After Noise Injection.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66343" y="760749"/>
            <a:ext cx="49360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Defen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 Layers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32339" y="4643731"/>
            <a:ext cx="14118334" cy="295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Using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Gaussian Blur: Smooths the image by averaging pixels with their neighbors using a Gaussian kernel.</a:t>
            </a:r>
          </a:p>
          <a:p>
            <a:pPr algn="just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Using JPEG Compression: Compresses the image using JPEG format and then decompresses it back.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Using Median Filtering (Input Denoising): Each pixel is replaced by the median of its neighboring pixels.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4916" y="2797927"/>
            <a:ext cx="11449583" cy="147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Cle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 the inputs before feeding to the CNN model</a:t>
            </a:r>
          </a:p>
          <a:p>
            <a:pPr algn="just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One time training </a:t>
            </a:r>
          </a:p>
          <a:p>
            <a:pPr algn="just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Various techniques are : 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5258" y="3391284"/>
            <a:ext cx="5931574" cy="5750608"/>
          </a:xfrm>
          <a:custGeom>
            <a:avLst/>
            <a:gdLst/>
            <a:ahLst/>
            <a:cxnLst/>
            <a:rect r="r" b="b" t="t" l="l"/>
            <a:pathLst>
              <a:path h="5750608" w="5931574">
                <a:moveTo>
                  <a:pt x="0" y="0"/>
                </a:moveTo>
                <a:lnTo>
                  <a:pt x="5931574" y="0"/>
                </a:lnTo>
                <a:lnTo>
                  <a:pt x="5931574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25" r="0" b="-262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23884" y="3489224"/>
            <a:ext cx="5959574" cy="5554729"/>
          </a:xfrm>
          <a:custGeom>
            <a:avLst/>
            <a:gdLst/>
            <a:ahLst/>
            <a:cxnLst/>
            <a:rect r="r" b="b" t="t" l="l"/>
            <a:pathLst>
              <a:path h="5554729" w="5959574">
                <a:moveTo>
                  <a:pt x="0" y="0"/>
                </a:moveTo>
                <a:lnTo>
                  <a:pt x="5959574" y="0"/>
                </a:lnTo>
                <a:lnTo>
                  <a:pt x="5959574" y="5554729"/>
                </a:lnTo>
                <a:lnTo>
                  <a:pt x="0" y="5554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43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57984" y="0"/>
            <a:ext cx="10740526" cy="2786585"/>
          </a:xfrm>
          <a:custGeom>
            <a:avLst/>
            <a:gdLst/>
            <a:ahLst/>
            <a:cxnLst/>
            <a:rect r="r" b="b" t="t" l="l"/>
            <a:pathLst>
              <a:path h="2786585" w="10740526">
                <a:moveTo>
                  <a:pt x="0" y="0"/>
                </a:moveTo>
                <a:lnTo>
                  <a:pt x="10740526" y="0"/>
                </a:lnTo>
                <a:lnTo>
                  <a:pt x="10740526" y="2786585"/>
                </a:lnTo>
                <a:lnTo>
                  <a:pt x="0" y="2786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37883" y="2729435"/>
            <a:ext cx="4240783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DefendedM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odel Accuracy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38061" y="9432137"/>
            <a:ext cx="3331220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oss vs Epoch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2374" y="9432137"/>
            <a:ext cx="3331220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uracy vs Epoch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591" y="0"/>
            <a:ext cx="7176101" cy="4874333"/>
          </a:xfrm>
          <a:custGeom>
            <a:avLst/>
            <a:gdLst/>
            <a:ahLst/>
            <a:cxnLst/>
            <a:rect r="r" b="b" t="t" l="l"/>
            <a:pathLst>
              <a:path h="4874333" w="7176101">
                <a:moveTo>
                  <a:pt x="0" y="0"/>
                </a:moveTo>
                <a:lnTo>
                  <a:pt x="7176101" y="0"/>
                </a:lnTo>
                <a:lnTo>
                  <a:pt x="7176101" y="4874333"/>
                </a:lnTo>
                <a:lnTo>
                  <a:pt x="0" y="48743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70687" y="4999110"/>
            <a:ext cx="6946626" cy="4738931"/>
          </a:xfrm>
          <a:custGeom>
            <a:avLst/>
            <a:gdLst/>
            <a:ahLst/>
            <a:cxnLst/>
            <a:rect r="r" b="b" t="t" l="l"/>
            <a:pathLst>
              <a:path h="4738931" w="6946626">
                <a:moveTo>
                  <a:pt x="0" y="0"/>
                </a:moveTo>
                <a:lnTo>
                  <a:pt x="6946626" y="0"/>
                </a:lnTo>
                <a:lnTo>
                  <a:pt x="6946626" y="4738932"/>
                </a:lnTo>
                <a:lnTo>
                  <a:pt x="0" y="4738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11806" y="0"/>
            <a:ext cx="7053446" cy="4874333"/>
          </a:xfrm>
          <a:custGeom>
            <a:avLst/>
            <a:gdLst/>
            <a:ahLst/>
            <a:cxnLst/>
            <a:rect r="r" b="b" t="t" l="l"/>
            <a:pathLst>
              <a:path h="4874333" w="7053446">
                <a:moveTo>
                  <a:pt x="0" y="0"/>
                </a:moveTo>
                <a:lnTo>
                  <a:pt x="7053447" y="0"/>
                </a:lnTo>
                <a:lnTo>
                  <a:pt x="7053447" y="4874333"/>
                </a:lnTo>
                <a:lnTo>
                  <a:pt x="0" y="4874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23545" y="9680892"/>
            <a:ext cx="6440909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Using JPEGC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ompression Defense Layer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10591" y="4838700"/>
            <a:ext cx="4354662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Using Median Denoising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Defense Layer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3532" y="4838700"/>
            <a:ext cx="3227561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Using GaussianBl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Defense Layer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13382135" y="-124826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3347808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96685" y="-2295812"/>
            <a:ext cx="1543050" cy="15297724"/>
            <a:chOff x="0" y="0"/>
            <a:chExt cx="406400" cy="40290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-5400000">
            <a:off x="-2409335" y="9038735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5400000">
            <a:off x="-2409335" y="-1167282"/>
            <a:ext cx="7315200" cy="2496530"/>
          </a:xfrm>
          <a:custGeom>
            <a:avLst/>
            <a:gdLst/>
            <a:ahLst/>
            <a:cxnLst/>
            <a:rect r="r" b="b" t="t" l="l"/>
            <a:pathLst>
              <a:path h="2496530" w="7315200">
                <a:moveTo>
                  <a:pt x="0" y="2496530"/>
                </a:moveTo>
                <a:lnTo>
                  <a:pt x="7315200" y="2496530"/>
                </a:lnTo>
                <a:lnTo>
                  <a:pt x="7315200" y="0"/>
                </a:lnTo>
                <a:lnTo>
                  <a:pt x="0" y="0"/>
                </a:lnTo>
                <a:lnTo>
                  <a:pt x="0" y="24965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8265" y="-3074580"/>
            <a:ext cx="1543050" cy="15297724"/>
            <a:chOff x="0" y="0"/>
            <a:chExt cx="406400" cy="40290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29030"/>
            </a:xfrm>
            <a:custGeom>
              <a:avLst/>
              <a:gdLst/>
              <a:ahLst/>
              <a:cxnLst/>
              <a:rect r="r" b="b" t="t" l="l"/>
              <a:pathLst>
                <a:path h="402903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29030"/>
                  </a:lnTo>
                  <a:lnTo>
                    <a:pt x="0" y="4029030"/>
                  </a:lnTo>
                  <a:close/>
                </a:path>
              </a:pathLst>
            </a:custGeom>
            <a:solidFill>
              <a:srgbClr val="F7F2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400" cy="4067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053653" y="933450"/>
            <a:ext cx="98859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aining with Multiple Epsilons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3939" y="4223254"/>
            <a:ext cx="14248420" cy="416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Rather than using a single, fixed perturbation strength ϵ, adversarial samples were 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generated using multiple epsil</a:t>
            </a: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 values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Values used are ϵ ∈ {0.01, 0.05, 0.1, 0.2, 0.3}.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approach led to a substantial improvement in the model’s robustness to adversarial attacks, particularly in the lower to mid-range epsilon values (e.g., 0.01–0.1).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Compared to the baseline model, the accuracy showed less significant degradation for higher epsilon values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641" y="2470371"/>
            <a:ext cx="7634619" cy="5346259"/>
          </a:xfrm>
          <a:custGeom>
            <a:avLst/>
            <a:gdLst/>
            <a:ahLst/>
            <a:cxnLst/>
            <a:rect r="r" b="b" t="t" l="l"/>
            <a:pathLst>
              <a:path h="5346259" w="7634619">
                <a:moveTo>
                  <a:pt x="0" y="0"/>
                </a:moveTo>
                <a:lnTo>
                  <a:pt x="7634619" y="0"/>
                </a:lnTo>
                <a:lnTo>
                  <a:pt x="7634619" y="5346258"/>
                </a:lnTo>
                <a:lnTo>
                  <a:pt x="0" y="5346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80114" y="3315064"/>
            <a:ext cx="9811214" cy="3990192"/>
          </a:xfrm>
          <a:custGeom>
            <a:avLst/>
            <a:gdLst/>
            <a:ahLst/>
            <a:cxnLst/>
            <a:rect r="r" b="b" t="t" l="l"/>
            <a:pathLst>
              <a:path h="3990192" w="9811214">
                <a:moveTo>
                  <a:pt x="0" y="0"/>
                </a:moveTo>
                <a:lnTo>
                  <a:pt x="9811215" y="0"/>
                </a:lnTo>
                <a:lnTo>
                  <a:pt x="9811215" y="3990193"/>
                </a:lnTo>
                <a:lnTo>
                  <a:pt x="0" y="3990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74" t="0" r="-516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97188" y="7875810"/>
            <a:ext cx="511477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Accuracy Afte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Epsilon Training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20860" y="8087900"/>
            <a:ext cx="3331220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uracy On Various Epsilon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312629" y="1284397"/>
          <a:ext cx="13161060" cy="9002603"/>
        </p:xfrm>
        <a:graphic>
          <a:graphicData uri="http://schemas.openxmlformats.org/drawingml/2006/table">
            <a:tbl>
              <a:tblPr/>
              <a:tblGrid>
                <a:gridCol w="5725841"/>
                <a:gridCol w="7435219"/>
              </a:tblGrid>
              <a:tr h="10855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Technique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Accuracy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82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WITHOUT ATTACK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82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FGSM ATTACK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38%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82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ADVERSEARIAL TRAINING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4174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USING GAUSSIAN BLUR (eps = 0.1)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4174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USING JPEG COMPRESSION (eps = 0.1)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9608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USING MEDIAN FILTERING (Input Denoising)</a:t>
                      </a:r>
                      <a:endParaRPr lang="en-US" sz="1100"/>
                    </a:p>
                    <a:p>
                      <a:pPr algn="just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(eps = 0.1)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82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NOISE INJECTION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82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EPSILON TRAINING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039009" y="141605"/>
            <a:ext cx="1020998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Comparisions Among Defences </a:t>
            </a:r>
          </a:p>
        </p:txBody>
      </p:sp>
      <p:sp>
        <p:nvSpPr>
          <p:cNvPr name="AutoShape 4" id="4"/>
          <p:cNvSpPr/>
          <p:nvPr/>
        </p:nvSpPr>
        <p:spPr>
          <a:xfrm>
            <a:off x="2312629" y="5337626"/>
            <a:ext cx="13161060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312629" y="6211191"/>
            <a:ext cx="13073157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312629" y="5356676"/>
            <a:ext cx="0" cy="854515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5473689" y="5337626"/>
            <a:ext cx="0" cy="873565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87514" y="933450"/>
            <a:ext cx="428305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77758" y="2907357"/>
            <a:ext cx="13757431" cy="484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4994" indent="-372497" lvl="1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34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ore advanced and stronger attacks, including PGD, DeepFool</a:t>
            </a:r>
          </a:p>
          <a:p>
            <a:pPr algn="just" marL="744994" indent="-372497" lvl="1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Design of adaptive or learnable defensive schemes that have the capabilityof responding to varied perturbations dynamically</a:t>
            </a:r>
          </a:p>
          <a:p>
            <a:pPr algn="just" marL="744994" indent="-372497" lvl="1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Experimenting on these defense strategies with larger and more diverse sets, e.g., CIFAR-10, CIFAR-100, or domain-specific datasets</a:t>
            </a:r>
          </a:p>
          <a:p>
            <a:pPr algn="just" marL="744994" indent="-372497" lvl="1">
              <a:lnSpc>
                <a:spcPts val="4830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Deploying these methods in federated learning settings may provide solutions to practical security issues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7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10338" y="4652327"/>
            <a:ext cx="34673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9662" y="-221832"/>
            <a:ext cx="18332860" cy="445690"/>
            <a:chOff x="0" y="0"/>
            <a:chExt cx="4828408" cy="1173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9662" y="10063142"/>
            <a:ext cx="18332860" cy="445690"/>
            <a:chOff x="0" y="0"/>
            <a:chExt cx="4828408" cy="117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408" cy="117383"/>
            </a:xfrm>
            <a:custGeom>
              <a:avLst/>
              <a:gdLst/>
              <a:ahLst/>
              <a:cxnLst/>
              <a:rect r="r" b="b" t="t" l="l"/>
              <a:pathLst>
                <a:path h="117383" w="4828408">
                  <a:moveTo>
                    <a:pt x="0" y="0"/>
                  </a:moveTo>
                  <a:lnTo>
                    <a:pt x="4828408" y="0"/>
                  </a:lnTo>
                  <a:lnTo>
                    <a:pt x="4828408" y="117383"/>
                  </a:lnTo>
                  <a:lnTo>
                    <a:pt x="0" y="117383"/>
                  </a:lnTo>
                  <a:close/>
                </a:path>
              </a:pathLst>
            </a:custGeom>
            <a:solidFill>
              <a:srgbClr val="9975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8408" cy="15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DAGmLJ3koXw</dc:identifier>
  <dcterms:modified xsi:type="dcterms:W3CDTF">2011-08-01T06:04:30Z</dcterms:modified>
  <cp:revision>1</cp:revision>
  <dc:title>Brown Simple Modern Presentation</dc:title>
</cp:coreProperties>
</file>